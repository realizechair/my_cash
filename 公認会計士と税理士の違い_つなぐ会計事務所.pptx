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4572000"/>
            <a:ext cx="3502152" cy="2286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5303520"/>
            <a:ext cx="2587752" cy="155448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3A1"/>
                </a:solidFill>
                <a:latin typeface="Meiryo"/>
              </a:rPr>
              <a:t>つなぐ会計事務所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eiryo"/>
              </a:rPr>
              <a:t>公認会計士と税理士</a:t>
            </a:r>
          </a:p>
          <a:p>
            <a:pPr algn="l">
              <a:spcBef>
                <a:spcPts val="0"/>
              </a:spcBef>
            </a:pPr>
            <a:r>
              <a:rPr sz="4200" b="0">
                <a:solidFill>
                  <a:srgbClr val="0091DA"/>
                </a:solidFill>
                <a:latin typeface="Meiryo"/>
              </a:rPr>
              <a:t>どう違うの？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B8D"/>
                </a:solidFill>
                <a:latin typeface="Meiryo"/>
              </a:rPr>
              <a:t>― 専門家の役割をわかりやすく解説します 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Meiryo"/>
              </a:rPr>
              <a:t>お客様向け説明資料  ／  つなぐ会計事務所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公認会計士と税理士　資格・業務の比較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234440"/>
            <a:ext cx="3840479" cy="53035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1234440"/>
            <a:ext cx="3840479" cy="530352"/>
          </a:xfrm>
          <a:prstGeom prst="rect">
            <a:avLst/>
          </a:prstGeom>
          <a:solidFill>
            <a:srgbClr val="483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280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公認会計士（CPA）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280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税理士（Tax Accountant）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307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8D"/>
                </a:solidFill>
                <a:latin typeface="Meiryo"/>
              </a:rPr>
              <a:t>比較項目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79" y="1810512"/>
            <a:ext cx="11704320" cy="6675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1" y="1810512"/>
            <a:ext cx="45720" cy="6675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1810512"/>
            <a:ext cx="45720" cy="6675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856232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8D"/>
                </a:solidFill>
                <a:latin typeface="Meiryo"/>
              </a:rPr>
              <a:t>主な業務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56232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監査・会計・税務・経営
コンサルティングなど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56232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税務申告・税務相談・
記帳代行など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79" y="2523744"/>
            <a:ext cx="117043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96511" y="2523744"/>
            <a:ext cx="45720" cy="6675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2523744"/>
            <a:ext cx="45720" cy="6675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569464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8D"/>
                </a:solidFill>
                <a:latin typeface="Meiryo"/>
              </a:rPr>
              <a:t>独占業務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569464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財務諸表の監査
（上場企業等への法定監査）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69464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税務代理・税務書類作成
（個人・法人の確定申告等）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79" y="3236976"/>
            <a:ext cx="11704320" cy="6675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6511" y="3236976"/>
            <a:ext cx="45720" cy="6675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9872" y="3236976"/>
            <a:ext cx="45720" cy="6675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282696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8D"/>
                </a:solidFill>
                <a:latin typeface="Meiryo"/>
              </a:rPr>
              <a:t>試験難易度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282696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国家最難関レベル
合格率 約10〜11%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82696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難関国家資格
合格率 約15〜20%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79" y="3950207"/>
            <a:ext cx="117043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96511" y="3950207"/>
            <a:ext cx="45720" cy="6675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9872" y="3950207"/>
            <a:ext cx="45720" cy="6675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995927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8D"/>
                </a:solidFill>
                <a:latin typeface="Meiryo"/>
              </a:rPr>
              <a:t>主な活躍場所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995927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監査法人・大企業・金融機関
コンサルファームなど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995927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税理士事務所・会計事務所
中小企業・個人事業主など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79" y="4663440"/>
            <a:ext cx="11704320" cy="6675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96511" y="4663440"/>
            <a:ext cx="45720" cy="6675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19872" y="4663440"/>
            <a:ext cx="45720" cy="6675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709160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8D"/>
                </a:solidFill>
                <a:latin typeface="Meiryo"/>
              </a:rPr>
              <a:t>費用感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709160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比較的高め
（大企業・上場企業向け）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709160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費用がわかりやすい
（中小企業・個人向け）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1DA"/>
                </a:solidFill>
                <a:latin typeface="Meiryo"/>
              </a:rPr>
              <a:t>つなぐ会計事務所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どちらに相談すればいい？　― シーン別ガイド ―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94960" cy="4937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548640"/>
          </a:xfrm>
          <a:prstGeom prst="rect">
            <a:avLst/>
          </a:prstGeom>
          <a:solidFill>
            <a:srgbClr val="00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eiryo"/>
              </a:rPr>
              <a:t>公認会計士に相談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38527"/>
            <a:ext cx="164592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上場準備・IPOを目指している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59151"/>
            <a:ext cx="164592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9514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金融機関からの監査証明が必要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79775"/>
            <a:ext cx="164592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157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M&amp;A・企業買収の財務デューデリジェンス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00399"/>
            <a:ext cx="164592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136391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内部統制・コーポレートガバナンスの整備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21023"/>
            <a:ext cx="164592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57015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大規模な資金調達を検討している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348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E5FF"/>
                </a:solidFill>
                <a:latin typeface="Meiryo"/>
              </a:rPr>
              <a:t>→ 大企業・上場企業・金融機関との取引が
　　多いケースに強みがあります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143000"/>
            <a:ext cx="5394960" cy="4937760"/>
          </a:xfrm>
          <a:prstGeom prst="rect">
            <a:avLst/>
          </a:prstGeom>
          <a:solidFill>
            <a:srgbClr val="483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143000"/>
            <a:ext cx="5394960" cy="548640"/>
          </a:xfrm>
          <a:prstGeom prst="rect">
            <a:avLst/>
          </a:prstGeom>
          <a:solidFill>
            <a:srgbClr val="332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2070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eiryo"/>
              </a:rPr>
              <a:t>税理士に相談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1938527"/>
            <a:ext cx="164592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1874519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毎年の確定申告・法人税申告をお願いしたい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359151"/>
            <a:ext cx="164592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229514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節税対策・税務相談をしたい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779775"/>
            <a:ext cx="164592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27157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会社設立・起業時の税務手続き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200399"/>
            <a:ext cx="164592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3136391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記帳代行・経理のアウトソーシング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621023"/>
            <a:ext cx="164592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3557015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相続税・贈与税の申告をしたい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348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D0FF"/>
                </a:solidFill>
                <a:latin typeface="Meiryo"/>
              </a:rPr>
              <a:t>→ 中小企業・個人事業主・フリーランスの
　　身近な税務パートナーとして活躍します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292608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338D"/>
                </a:solidFill>
                <a:latin typeface="Meiryo"/>
              </a:rPr>
              <a:t>VS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172200"/>
            <a:ext cx="11430000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1996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338D"/>
                </a:solidFill>
                <a:latin typeface="Meiryo"/>
              </a:rPr>
              <a:t>※ つなぐ会計事務所では、公認会計士・税理士双方の視点からお客様に最適なサポートをご提供します。お気軽にご相談ください。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1DA"/>
                </a:solidFill>
                <a:latin typeface="Meiryo"/>
              </a:rPr>
              <a:t>つなぐ会計事務所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